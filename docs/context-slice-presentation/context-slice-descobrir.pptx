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Capa. Apresenta o tema: do código-fonte até o Context Slice — a unidade determinística de contexto. O pipeline é Graphify → Explorer → Finalize + Human Gate → L0/L1/L2 → Slice → Pack. O deck explica cada camada com o modelo de dados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conceitual: o que é um grafo, fora de qualquer código. Seis círculos (Node A–E + External) ligados por cinco arestas tipadas — calls, depends_on, reads, publishes, http_call — cada uma com seu evidence chip (file:42, config.yml:8, schema.sql:12, ...). External tem borda tracejada = fronteira. Legenda decodifica NODE / EDGE / EVIDENCE. Takeaway: antes de virar ClienteService ou Address API, um grafo é só círculos conectados por relações com evidência.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Mesmo exemplo MVC fictício agora como código Kotlin/Spring real. ClienteController delega a ClienteService. Service chama ClienteRepository (JPA) e AddressClient (HTTP externo). AddressClient injeta address.api.url do application.yml via @Value. Os elementos visíveis que virarão graph: classes, métodos, a chamada addressClient.get(c.cep), o binding address.api.url -&gt; https://address.svc/v1. Próximo slide mapeia isso em nodes/edges.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código do slide anterior vira o mesmo grafo genérico de círculos. Símbolos viram nodes, chamadas viram edges e arquivo/linha vira evidence. O desenho mantém o mesmo modelo mental antes de introduzir L0.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Node, edge e file:line deixam de ser apenas desenho: viram KnowledgeRecord, Relation e Evidence. L0 também deriva componentes semânticos do código, mas ainda estamos dentro de um único repositório.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record atual guarda apenas seus campos semânticos e evidence. Metadados de repo e revisão ficam no package_json. O id é l0:type:natural_key e é determinístico.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Relation usa ids completos dos records como endpoints. Evidence não é texto decorativo: resolve contra o manifest, hash e range preparado. Falha de evidence bloqueia persistência.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FrontierFact é uma projeção derivada de records L0 elegíveis. Methods/classes comuns não viram facts. O package_json não contém frontier_facts array; o export/extract produz a fronteira para L1.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modelo atual possui apenas candidate_packages e accepted_baselines. O pacote é imutável, content-addressed e lido inteiro; aceitação é um ponteiro explícito. FrontierFacts não são persistidos no blob.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L1 recebe fatos de fronteira de baselines aceitos, normaliza method/path em contract_key e produz apenas edges cross-repo. Config binding aumenta confiança; configuração contraditória rejeita o match.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SystemEdge combina colunas normalizadas para busca e edge_json completo. Runs são registrados separadamente. O modelo atual não tem current edge set; edges acumulam idempotentemente.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pipeline L2 é bottom-up. L1 propõe o índice de integração; L0 enriquece com métodos/serviços e bloqueios de body read; bind marca bound/gap sem inventar narrativa.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L2 persiste specs e binds completos como JSON, além de metadados escalares. journey_step_edges indexa edge→jornada e journey_current resolve o bind atual.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como animação em três passos: primeiro o grafo inteiro, depois a seed e a policy selecionam uma fatia, por fim essa fatia entra na memória do agente. O Slice é completo para aquela derivação: contém os nodes, edges, misses e evidence necessários à tarefa, sem carregar o sistema inteiro.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Percorra o fluxo da esquerda para a direita e depois a segunda linha. A query vira seed e policy; a derivation key identifica exatamente os inputs L0/L1/L2. Se já existe Slice equivalente, ocorre cache hit; caso contrário ele é materializado. O budget transforma o Slice em Pack, que é inserido na janela de contexto do agente. A resposta usa apenas essa fatia e mantém evidence para justificar cada conclusão.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modelo não abre arquivos sozinho. O Pack possui pointers portáveis. O RepoBinding existe somente na máquina local. O Hydrator lê a revisão exata, valida path/range/hash e cria o AgentContextEnvelope. O ContextLoadReceipt prova quais bytes foram realmente colocados no contexto.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colaboração acontece sobre objetos e refs canônicos no Git. Cada PR mostra mudanças semânticas L0/L1/L2. O SQLite permanece como índice local rápido, gerado do manifest e reconstruível. Assim duas branches podem indexar serviços diferentes sem disputar um único binário global.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as cores para explicar responsabilidade. O Explorer e o Query Interpreter/Task Agent usam LLM. Todos os IDs, hashes, matches, traversal, Slice, Pack, hidratação, tools e citation check são determinísticos. Human Gate permanece na aceitação do baseline e pode reaparecer em mudanças de alto impacto.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6E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código ao Context Slice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0175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pipeline determinístico que transforma um repositório em contexto verificável para agentes e humanos.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4389120"/>
            <a:ext cx="1645920" cy="640080"/>
          </a:xfrm>
          <a:prstGeom prst="roundedRectangle">
            <a:avLst>
              <a:gd name="adj" fmla="val 8571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4526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Graphify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06040" y="4572000"/>
            <a:ext cx="411480" cy="274320"/>
          </a:xfrm>
          <a:prstGeom prst="rightArrow">
            <a:avLst/>
          </a:prstGeom>
          <a:solidFill>
            <a:srgbClr val="6B717F"/>
          </a:solidFill>
          <a:ln/>
        </p:spPr>
      </p:sp>
      <p:sp>
        <p:nvSpPr>
          <p:cNvPr id="7" name="Shape 5"/>
          <p:cNvSpPr/>
          <p:nvPr/>
        </p:nvSpPr>
        <p:spPr>
          <a:xfrm>
            <a:off x="3108960" y="4389120"/>
            <a:ext cx="1645920" cy="640080"/>
          </a:xfrm>
          <a:prstGeom prst="roundedRectangle">
            <a:avLst>
              <a:gd name="adj" fmla="val 8571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4526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4572000"/>
            <a:ext cx="411480" cy="274320"/>
          </a:xfrm>
          <a:prstGeom prst="rightArrow">
            <a:avLst/>
          </a:prstGeom>
          <a:solidFill>
            <a:srgbClr val="6B717F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0" y="4389120"/>
            <a:ext cx="1645920" cy="640080"/>
          </a:xfrm>
          <a:prstGeom prst="roundedRectangle">
            <a:avLst>
              <a:gd name="adj" fmla="val 8571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0" y="4526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95160" y="4572000"/>
            <a:ext cx="411480" cy="274320"/>
          </a:xfrm>
          <a:prstGeom prst="rightArrow">
            <a:avLst/>
          </a:prstGeom>
          <a:solidFill>
            <a:srgbClr val="6B717F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0" y="4389120"/>
            <a:ext cx="1645920" cy="640080"/>
          </a:xfrm>
          <a:prstGeom prst="roundedRectangle">
            <a:avLst>
              <a:gd name="adj" fmla="val 8571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0" y="4526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L0→L1→L2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89720" y="4572000"/>
            <a:ext cx="411480" cy="274320"/>
          </a:xfrm>
          <a:prstGeom prst="rightArrow">
            <a:avLst/>
          </a:prstGeom>
          <a:solidFill>
            <a:srgbClr val="6B717F"/>
          </a:solidFill>
          <a:ln/>
        </p:spPr>
      </p:sp>
      <p:sp>
        <p:nvSpPr>
          <p:cNvPr id="16" name="Shape 14"/>
          <p:cNvSpPr/>
          <p:nvPr/>
        </p:nvSpPr>
        <p:spPr>
          <a:xfrm>
            <a:off x="9692640" y="4389120"/>
            <a:ext cx="1645920" cy="640080"/>
          </a:xfrm>
          <a:prstGeom prst="roundedRectangle">
            <a:avLst>
              <a:gd name="adj" fmla="val 8571"/>
            </a:avLst>
          </a:prstGeom>
          <a:solidFill>
            <a:srgbClr val="7C6CFF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0" y="4526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649224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Slice · Descobrir  •  slide 1/18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 grafo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+ relations + proof — a unidade visual do conhecimento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Slice · Descobrir  •  slide 2/18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606040" y="2057400"/>
            <a:ext cx="2468880" cy="0"/>
          </a:xfrm>
          <a:prstGeom prst="line">
            <a:avLst/>
          </a:prstGeom>
          <a:noFill/>
          <a:ln w="25400">
            <a:solidFill>
              <a:srgbClr val="3ECF8E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080760" y="2057400"/>
            <a:ext cx="2560320" cy="0"/>
          </a:xfrm>
          <a:prstGeom prst="line">
            <a:avLst/>
          </a:prstGeom>
          <a:noFill/>
          <a:ln w="25400">
            <a:solidFill>
              <a:srgbClr val="3ECF8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103120" y="2560320"/>
            <a:ext cx="0" cy="594360"/>
          </a:xfrm>
          <a:prstGeom prst="line">
            <a:avLst/>
          </a:prstGeom>
          <a:noFill/>
          <a:ln w="25400">
            <a:solidFill>
              <a:srgbClr val="3ECF8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577840" y="2560320"/>
            <a:ext cx="0" cy="59436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144000" y="2560320"/>
            <a:ext cx="0" cy="594360"/>
          </a:xfrm>
          <a:prstGeom prst="line">
            <a:avLst/>
          </a:prstGeom>
          <a:noFill/>
          <a:ln w="25400">
            <a:solidFill>
              <a:srgbClr val="E8A33D"/>
            </a:solidFill>
            <a:prstDash val="dash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606040" y="16459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06040" y="182880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1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file:42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080760" y="16459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depends_on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80760" y="182880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1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file:8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194560" y="26517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94560" y="28346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1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schema.sql:12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669280" y="26517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69280" y="28346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1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config.yml:8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235440" y="26517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http_call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235440" y="28346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1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config.yml:3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600200" y="1554480"/>
            <a:ext cx="1005840" cy="1005840"/>
          </a:xfrm>
          <a:prstGeom prst="ellipse">
            <a:avLst/>
          </a:prstGeom>
          <a:solidFill>
            <a:srgbClr val="1D2026"/>
          </a:solidFill>
          <a:ln w="25400">
            <a:solidFill>
              <a:srgbClr val="7C6CFF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600200" y="1554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74920" y="1554480"/>
            <a:ext cx="1005840" cy="1005840"/>
          </a:xfrm>
          <a:prstGeom prst="ellipse">
            <a:avLst/>
          </a:prstGeom>
          <a:solidFill>
            <a:srgbClr val="1D2026"/>
          </a:solidFill>
          <a:ln w="25400">
            <a:solidFill>
              <a:srgbClr val="7C6CFF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74920" y="1554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B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641080" y="1554480"/>
            <a:ext cx="1005840" cy="1005840"/>
          </a:xfrm>
          <a:prstGeom prst="ellipse">
            <a:avLst/>
          </a:prstGeom>
          <a:solidFill>
            <a:srgbClr val="1D2026"/>
          </a:solidFill>
          <a:ln w="25400">
            <a:solidFill>
              <a:srgbClr val="7C6CFF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41080" y="1554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C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600200" y="3154680"/>
            <a:ext cx="1005840" cy="1005840"/>
          </a:xfrm>
          <a:prstGeom prst="ellipse">
            <a:avLst/>
          </a:prstGeom>
          <a:solidFill>
            <a:srgbClr val="1D2026"/>
          </a:solidFill>
          <a:ln w="25400">
            <a:solidFill>
              <a:srgbClr val="7C6CFF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600200" y="31546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74920" y="3154680"/>
            <a:ext cx="1005840" cy="1005840"/>
          </a:xfrm>
          <a:prstGeom prst="ellipse">
            <a:avLst/>
          </a:prstGeom>
          <a:solidFill>
            <a:srgbClr val="1D2026"/>
          </a:solidFill>
          <a:ln w="25400">
            <a:solidFill>
              <a:srgbClr val="7C6CFF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74920" y="31546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641080" y="3154680"/>
            <a:ext cx="1005840" cy="1005840"/>
          </a:xfrm>
          <a:prstGeom prst="ellipse">
            <a:avLst/>
          </a:prstGeom>
          <a:solidFill>
            <a:srgbClr val="1D2026"/>
          </a:solidFill>
          <a:ln w="25400">
            <a:solidFill>
              <a:srgbClr val="6F8196"/>
            </a:solidFill>
            <a:prstDash val="dash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641080" y="31546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4297680"/>
            <a:ext cx="3474720" cy="1097280"/>
          </a:xfrm>
          <a:prstGeom prst="roundedRectangle">
            <a:avLst>
              <a:gd name="adj" fmla="val 5000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13232" y="4443984"/>
            <a:ext cx="274320" cy="274320"/>
          </a:xfrm>
          <a:prstGeom prst="ellipse">
            <a:avLst/>
          </a:prstGeom>
          <a:solidFill>
            <a:srgbClr val="7C6CFF"/>
          </a:solidFill>
          <a:ln/>
        </p:spPr>
      </p:sp>
      <p:sp>
        <p:nvSpPr>
          <p:cNvPr id="34" name="Text 32"/>
          <p:cNvSpPr/>
          <p:nvPr/>
        </p:nvSpPr>
        <p:spPr>
          <a:xfrm>
            <a:off x="1097280" y="4425696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6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31520" y="477316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Círculo = entidade genérica.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Aqui: Node A … Node E + External.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prática: tipo + id + nome.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343400" y="4297680"/>
            <a:ext cx="3474720" cy="1097280"/>
          </a:xfrm>
          <a:prstGeom prst="roundedRectangle">
            <a:avLst>
              <a:gd name="adj" fmla="val 5000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07992" y="4581144"/>
            <a:ext cx="274320" cy="0"/>
          </a:xfrm>
          <a:prstGeom prst="line">
            <a:avLst/>
          </a:prstGeom>
          <a:noFill/>
          <a:ln w="25400">
            <a:solidFill>
              <a:srgbClr val="3ECF8E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4892040" y="4425696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26280" y="477316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= conexão tipada.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· depends_on · reads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· http_call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138160" y="4297680"/>
            <a:ext cx="3474720" cy="1097280"/>
          </a:xfrm>
          <a:prstGeom prst="roundedRectangle">
            <a:avLst>
              <a:gd name="adj" fmla="val 5000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302752" y="4480560"/>
            <a:ext cx="274320" cy="201168"/>
          </a:xfrm>
          <a:prstGeom prst="roundedRectangle">
            <a:avLst>
              <a:gd name="adj" fmla="val 18182"/>
            </a:avLst>
          </a:prstGeom>
          <a:solidFill>
            <a:srgbClr val="E8A33D"/>
          </a:solidFill>
          <a:ln/>
        </p:spPr>
      </p:sp>
      <p:sp>
        <p:nvSpPr>
          <p:cNvPr id="42" name="Text 40"/>
          <p:cNvSpPr/>
          <p:nvPr/>
        </p:nvSpPr>
        <p:spPr>
          <a:xfrm>
            <a:off x="8686800" y="4425696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321040" y="477316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= prova da aresta.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file:42 · config.yml:8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schema.sql:12 · config.yml:3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8640" y="5532120"/>
            <a:ext cx="11064240" cy="640080"/>
          </a:xfrm>
          <a:prstGeom prst="roundedRectangle">
            <a:avLst>
              <a:gd name="adj" fmla="val 8571"/>
            </a:avLst>
          </a:prstGeom>
          <a:solidFill>
            <a:srgbClr val="16181D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56235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ser </a:t>
            </a:r>
            <a:pPr indent="0" marL="0">
              <a:buNone/>
            </a:pPr>
            <a:r>
              <a:rPr lang="en-US" sz="1200" b="1" dirty="0">
                <a:solidFill>
                  <a:srgbClr val="E6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ClienteService</a:t>
            </a:r>
            <a:pPr indent="0" marL="0">
              <a:buNone/>
            </a:pPr>
            <a:r>
              <a:rPr lang="en-US" sz="12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 </a:t>
            </a:r>
            <a:pPr indent="0" marL="0">
              <a:buNone/>
            </a:pPr>
            <a:r>
              <a:rPr lang="en-US" sz="1200" b="1" dirty="0">
                <a:solidFill>
                  <a:srgbClr val="E6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API</a:t>
            </a:r>
            <a:pPr indent="0" marL="0">
              <a:buNone/>
            </a:pPr>
            <a:r>
              <a:rPr lang="en-US" sz="12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é só isso: círculos conectados por relações com evidência.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MVC fictício — código real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ClienteController -&gt; ClienteService -&gt; ClienteRepository + AddressClient -&gt; Address API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Slice · Descobrir  •  slide 3/18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486400" cy="2194560"/>
          </a:xfrm>
          <a:prstGeom prst="roundedRectangle">
            <a:avLst>
              <a:gd name="adj" fmla="val 2500"/>
            </a:avLst>
          </a:prstGeom>
          <a:solidFill>
            <a:srgbClr val="0A0C0F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399032"/>
            <a:ext cx="5266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6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ClienteController.kt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636776"/>
            <a:ext cx="526694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@RestController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@RequestMapping("/clientes")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ClienteController(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val service: ClienteService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@GetMapping("/{id}")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 buscar(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@PathVariable id: Long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): ClienteDto 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service.buscar(id).toDto()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217920" y="1325880"/>
            <a:ext cx="5486400" cy="2194560"/>
          </a:xfrm>
          <a:prstGeom prst="roundedRectangle">
            <a:avLst>
              <a:gd name="adj" fmla="val 2500"/>
            </a:avLst>
          </a:prstGeom>
          <a:solidFill>
            <a:srgbClr val="0A0C0F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27648" y="1399032"/>
            <a:ext cx="5266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6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ClienteService.kt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327648" y="1636776"/>
            <a:ext cx="526694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@Service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ClienteService(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val repo: ClienteRepository,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val addressClient: AddressClient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 buscar(id: Long): Cliente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 c = repo.findById(id)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?: throw NotFoundException(id)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 addr = addressClient.get(c.cep)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c.copy(address = addr)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611880"/>
            <a:ext cx="5486400" cy="2377440"/>
          </a:xfrm>
          <a:prstGeom prst="roundedRectangle">
            <a:avLst>
              <a:gd name="adj" fmla="val 2308"/>
            </a:avLst>
          </a:prstGeom>
          <a:solidFill>
            <a:srgbClr val="0A0C0F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685032"/>
            <a:ext cx="5266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6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ClienteRepository.kt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8368" y="3922776"/>
            <a:ext cx="5266944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 br.example.cliente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org.springframework.data.jpa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.repository.JpaRepository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ClienteRepository 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JpaRepository&lt;Cliente, Long&gt; {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chamado por ClienteService.buscar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 findById(id: Long): Cliente?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3611880"/>
            <a:ext cx="5486400" cy="2377440"/>
          </a:xfrm>
          <a:prstGeom prst="roundedRectangle">
            <a:avLst>
              <a:gd name="adj" fmla="val 2308"/>
            </a:avLst>
          </a:prstGeom>
          <a:solidFill>
            <a:srgbClr val="0A0C0F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7648" y="3685032"/>
            <a:ext cx="5266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6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AddressClient.kt + application.yml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27648" y="3922776"/>
            <a:ext cx="5266944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@Component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AddressClient(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@Value("\${address.api.url}")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val baseUrl: String,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val rest: RestClient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 get(cep: String): Address 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rest.get()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.uri("\${baseUrl}/addresses/\${cep}")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.retrieve().body()!!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application.yml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api: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url: https://address.svc/v1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6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slide: </a:t>
            </a:r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classe/method vira um node (kind + id canônico); cada chamada — addressClient.get, findById, http_call — vira uma edge com evidence file:line.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Este código vira este grafo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desenho do slide anterior, agora com símbolos reais do código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Slice · Descobrir  •  slide 4/18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874520" y="2057400"/>
            <a:ext cx="868680" cy="0"/>
          </a:xfrm>
          <a:prstGeom prst="line">
            <a:avLst/>
          </a:prstGeom>
          <a:noFill/>
          <a:ln w="25400">
            <a:solidFill>
              <a:srgbClr val="3ECF8E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1874520" y="174650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874520" y="192938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B71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Controller.kt:9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4069080" y="2057400"/>
            <a:ext cx="868680" cy="0"/>
          </a:xfrm>
          <a:prstGeom prst="line">
            <a:avLst/>
          </a:prstGeom>
          <a:noFill/>
          <a:ln w="25400">
            <a:solidFill>
              <a:srgbClr val="3ECF8E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069080" y="174650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069080" y="192938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B71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Service.kt:10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6263640" y="2057400"/>
            <a:ext cx="8686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dash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263640" y="174650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http_call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263640" y="192938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B71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Client.kt:9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3401568" y="2670048"/>
            <a:ext cx="1097280" cy="1143000"/>
          </a:xfrm>
          <a:prstGeom prst="line">
            <a:avLst/>
          </a:prstGeom>
          <a:noFill/>
          <a:ln w="25400">
            <a:solidFill>
              <a:srgbClr val="3ECF8E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401568" y="23591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01568" y="25420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B71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Service.kt:8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7790688" y="3840480"/>
            <a:ext cx="0" cy="-1188720"/>
          </a:xfrm>
          <a:prstGeom prst="line">
            <a:avLst/>
          </a:prstGeom>
          <a:noFill/>
          <a:ln w="25400">
            <a:solidFill>
              <a:srgbClr val="E8A33D"/>
            </a:solidFill>
            <a:prstDash val="dash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790688" y="352958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config_binding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790688" y="371246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B71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application.yml:5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548640" y="1417320"/>
            <a:ext cx="1325880" cy="1325880"/>
          </a:xfrm>
          <a:prstGeom prst="ellipse">
            <a:avLst/>
          </a:prstGeom>
          <a:solidFill>
            <a:srgbClr val="1D2026"/>
          </a:solidFill>
          <a:ln w="25400">
            <a:solidFill>
              <a:srgbClr val="7C6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1783080"/>
            <a:ext cx="1106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Controller.buscar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278892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C6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ClienteController.kt:7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743200" y="1417320"/>
            <a:ext cx="1325880" cy="1325880"/>
          </a:xfrm>
          <a:prstGeom prst="ellipse">
            <a:avLst/>
          </a:prstGeom>
          <a:solidFill>
            <a:srgbClr val="1D2026"/>
          </a:solidFill>
          <a:ln w="25400">
            <a:solidFill>
              <a:srgbClr val="7C6C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52928" y="1783080"/>
            <a:ext cx="1106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Service.buscar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06040" y="278892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C6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ClienteService.kt:7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937760" y="1417320"/>
            <a:ext cx="1325880" cy="1325880"/>
          </a:xfrm>
          <a:prstGeom prst="ellipse">
            <a:avLst/>
          </a:prstGeom>
          <a:solidFill>
            <a:srgbClr val="1D2026"/>
          </a:solidFill>
          <a:ln w="25400">
            <a:solidFill>
              <a:srgbClr val="7C6C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47488" y="1783080"/>
            <a:ext cx="1106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AddressClient.get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600" y="278892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C6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AddressClient.kt:7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132320" y="1417320"/>
            <a:ext cx="1325880" cy="1325880"/>
          </a:xfrm>
          <a:prstGeom prst="ellipse">
            <a:avLst/>
          </a:prstGeom>
          <a:solidFill>
            <a:srgbClr val="1D2026"/>
          </a:solidFill>
          <a:ln w="25400">
            <a:solidFill>
              <a:srgbClr val="6F8196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242048" y="1783080"/>
            <a:ext cx="1106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API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95160" y="278892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81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/addresses/{cep}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251960" y="3703320"/>
            <a:ext cx="1325880" cy="1325880"/>
          </a:xfrm>
          <a:prstGeom prst="ellipse">
            <a:avLst/>
          </a:prstGeom>
          <a:solidFill>
            <a:srgbClr val="1D2026"/>
          </a:solidFill>
          <a:ln w="25400">
            <a:solidFill>
              <a:srgbClr val="7C6C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61688" y="4069080"/>
            <a:ext cx="1106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Repository.findById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114800" y="507492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C6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Repository.kt:8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132320" y="3703320"/>
            <a:ext cx="1325880" cy="1325880"/>
          </a:xfrm>
          <a:prstGeom prst="ellipse">
            <a:avLst/>
          </a:prstGeom>
          <a:solidFill>
            <a:srgbClr val="1D2026"/>
          </a:solidFill>
          <a:ln w="25400">
            <a:solidFill>
              <a:srgbClr val="E8A33D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7242048" y="4069080"/>
            <a:ext cx="1106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address.api.url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95160" y="507492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application.yml:5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9144000" y="1417320"/>
            <a:ext cx="2468880" cy="1097280"/>
          </a:xfrm>
          <a:prstGeom prst="roundedRectangle">
            <a:avLst>
              <a:gd name="adj" fmla="val 6667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9281160" y="15270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6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SÍMBOLO → NODE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281160" y="1828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 buscar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AddressClient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endpoint/config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144000" y="2788920"/>
            <a:ext cx="2468880" cy="1097280"/>
          </a:xfrm>
          <a:prstGeom prst="roundedRectangle">
            <a:avLst>
              <a:gd name="adj" fmla="val 6667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928116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CHAMADA → EDGE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281160" y="3200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service.buscar(id)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repo.findById(id)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rest.get()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144000" y="4160520"/>
            <a:ext cx="2468880" cy="1097280"/>
          </a:xfrm>
          <a:prstGeom prst="roundedRectangle">
            <a:avLst>
              <a:gd name="adj" fmla="val 6667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9281160" y="42702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FILE:LINE → EVIDENCE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9281160" y="4572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de onde nasceu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node e cada edge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voltam ao código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grafo vira objetos L0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elemento visual recebe uma representação canônica e verificável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Slice · Descobrir  •  slide 5/18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1325880" cy="1325880"/>
          </a:xfrm>
          <a:prstGeom prst="ellipse">
            <a:avLst/>
          </a:prstGeom>
          <a:solidFill>
            <a:srgbClr val="1D2026"/>
          </a:solidFill>
          <a:ln w="25400">
            <a:solidFill>
              <a:srgbClr val="7C6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874520"/>
            <a:ext cx="1106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Service.buscar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288036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C6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do grafo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331720" y="1920240"/>
            <a:ext cx="731520" cy="320040"/>
          </a:xfrm>
          <a:prstGeom prst="rightArrow">
            <a:avLst/>
          </a:prstGeom>
          <a:solidFill>
            <a:srgbClr val="6B717F"/>
          </a:solidFill>
          <a:ln/>
        </p:spPr>
      </p:sp>
      <p:sp>
        <p:nvSpPr>
          <p:cNvPr id="9" name="Shape 7"/>
          <p:cNvSpPr/>
          <p:nvPr/>
        </p:nvSpPr>
        <p:spPr>
          <a:xfrm>
            <a:off x="3246120" y="1417320"/>
            <a:ext cx="2834640" cy="1508760"/>
          </a:xfrm>
          <a:prstGeom prst="roundedRectangle">
            <a:avLst>
              <a:gd name="adj" fmla="val 4848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5270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6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KnowledgeRecord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182880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+ type + natural_key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summary + attributes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+ evidence + node_keys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886200"/>
            <a:ext cx="1325880" cy="0"/>
          </a:xfrm>
          <a:prstGeom prst="line">
            <a:avLst/>
          </a:prstGeom>
          <a:noFill/>
          <a:ln w="25400">
            <a:solidFill>
              <a:srgbClr val="3ECF8E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31520" y="356616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331720" y="3730752"/>
            <a:ext cx="731520" cy="320040"/>
          </a:xfrm>
          <a:prstGeom prst="rightArrow">
            <a:avLst/>
          </a:prstGeom>
          <a:solidFill>
            <a:srgbClr val="6B717F"/>
          </a:solidFill>
          <a:ln/>
        </p:spPr>
      </p:sp>
      <p:sp>
        <p:nvSpPr>
          <p:cNvPr id="15" name="Shape 13"/>
          <p:cNvSpPr/>
          <p:nvPr/>
        </p:nvSpPr>
        <p:spPr>
          <a:xfrm>
            <a:off x="3246120" y="3246120"/>
            <a:ext cx="2834640" cy="1508760"/>
          </a:xfrm>
          <a:prstGeom prst="roundedRectangle">
            <a:avLst>
              <a:gd name="adj" fmla="val 4848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83280" y="33558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365760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from_record + to_record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relation_type = calls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+ evidence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5303520"/>
            <a:ext cx="1325880" cy="420624"/>
          </a:xfrm>
          <a:prstGeom prst="roundedRectangle">
            <a:avLst>
              <a:gd name="adj" fmla="val 8696"/>
            </a:avLst>
          </a:prstGeom>
          <a:solidFill>
            <a:srgbClr val="1D2026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41324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Service.kt:10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331720" y="5358384"/>
            <a:ext cx="731520" cy="320040"/>
          </a:xfrm>
          <a:prstGeom prst="rightArrow">
            <a:avLst/>
          </a:prstGeom>
          <a:solidFill>
            <a:srgbClr val="6B717F"/>
          </a:solidFill>
          <a:ln/>
        </p:spPr>
      </p:sp>
      <p:sp>
        <p:nvSpPr>
          <p:cNvPr id="21" name="Shape 19"/>
          <p:cNvSpPr/>
          <p:nvPr/>
        </p:nvSpPr>
        <p:spPr>
          <a:xfrm>
            <a:off x="3246120" y="4983480"/>
            <a:ext cx="2834640" cy="1051560"/>
          </a:xfrm>
          <a:prstGeom prst="roundedRectangle">
            <a:avLst>
              <a:gd name="adj" fmla="val 6957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83280" y="50932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83280" y="53949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+ repository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manifest/hash/range ou repo URI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92240" y="1417320"/>
            <a:ext cx="5120640" cy="1920240"/>
          </a:xfrm>
          <a:prstGeom prst="roundedRectangle">
            <a:avLst>
              <a:gd name="adj" fmla="val 3810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629400" y="152704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6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DERIVADOS DO CÓDIGO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29400" y="18288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e métodos → records internos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e serviços → estrutura semântica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e configurações → records de fronteira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relações → calls, depends_on, implements, http_call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92240" y="3703320"/>
            <a:ext cx="5120640" cy="1920240"/>
          </a:xfrm>
          <a:prstGeom prst="roundedRectangle">
            <a:avLst>
              <a:gd name="adj" fmla="val 3810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629400" y="381304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DO L0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29400" y="41148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Graphify fornece estrutura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 adiciona semântica limitada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reconstrói ids/evidence e verifica integridade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 aceita o candidate; nada é auto-aceito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 KnowledgeRecord — de onde vem cada campo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ClienteService.buscar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Slice · Descobrir  •  slide 6/18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931920" cy="4389120"/>
          </a:xfrm>
          <a:prstGeom prst="roundedRectangle">
            <a:avLst>
              <a:gd name="adj" fmla="val 1395"/>
            </a:avLst>
          </a:prstGeom>
          <a:solidFill>
            <a:srgbClr val="0A0C0F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399032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6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ClienteService.kt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636776"/>
            <a:ext cx="3712464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@Service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ClienteService(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val repo: ClienteRepository,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val addressClient: AddressClient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 buscar(id: Long): Cliente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 c = repo.findById(id)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?: throw NotFoundException(id)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 addr = addressClient.get(c.cep)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c.copy(address = addr)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325880"/>
          <a:ext cx="6858000" cy="4434840"/>
        </p:xfrm>
        <a:graphic>
          <a:graphicData uri="http://schemas.openxmlformats.org/drawingml/2006/table">
            <a:tbl>
              <a:tblPr/>
              <a:tblGrid>
                <a:gridCol w="2194560"/>
                <a:gridCol w="4663440"/>
              </a:tblGrid>
              <a:tr h="492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6E8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 atual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F9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6E8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/ origem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F99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l0:method:cliente-service:ClienteService.buscar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/ natural_key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/ cliente-service:ClienteService.buscar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ClienteService.buscar — símbolo do código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Resumo factual limitado produzido pelo Explorer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Scalars limitados: visibility, source_file, line...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hipótese no finalize; Human Gate decide baseline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evidence[]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artifact + repository, reconstruídos do key_map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node_keys[]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chaves opacas do Graphify preservadas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754880" y="589788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namespace, logical_repo, source_revision, source engine e artifact_manifest pertencem ao pacote canônico; não são duplicados em cada record.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 Relation e Evidence — de onde vem cada campo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Service.buscar --calls--&gt; Repository.findById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Slice · Descobrir  •  slide 7/18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85800" y="1508760"/>
            <a:ext cx="1325880" cy="1325880"/>
          </a:xfrm>
          <a:prstGeom prst="ellipse">
            <a:avLst/>
          </a:prstGeom>
          <a:solidFill>
            <a:srgbClr val="1D2026"/>
          </a:solidFill>
          <a:ln w="25400">
            <a:solidFill>
              <a:srgbClr val="7C6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874520"/>
            <a:ext cx="1106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Service.buscar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C6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l0:method:...buscar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148840" y="2148840"/>
            <a:ext cx="1417320" cy="0"/>
          </a:xfrm>
          <a:prstGeom prst="line">
            <a:avLst/>
          </a:prstGeom>
          <a:noFill/>
          <a:ln w="25400">
            <a:solidFill>
              <a:srgbClr val="3ECF8E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148840" y="183794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148840" y="202082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B71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ClienteService.kt:8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3657600" y="1508760"/>
            <a:ext cx="1325880" cy="1325880"/>
          </a:xfrm>
          <a:prstGeom prst="ellipse">
            <a:avLst/>
          </a:prstGeom>
          <a:solidFill>
            <a:srgbClr val="1D2026"/>
          </a:solidFill>
          <a:ln w="25400">
            <a:solidFill>
              <a:srgbClr val="7C6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67328" y="1874520"/>
            <a:ext cx="1106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Repository.findById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20440" y="288036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C6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l0:method:...findById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29000"/>
          <a:ext cx="5577840" cy="2331720"/>
        </p:xfrm>
        <a:graphic>
          <a:graphicData uri="http://schemas.openxmlformats.org/drawingml/2006/table">
            <a:tbl>
              <a:tblPr/>
              <a:tblGrid>
                <a:gridCol w="2103120"/>
                <a:gridCol w="3474720"/>
              </a:tblGrid>
              <a:tr h="3331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6E8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F9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6E8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atual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F99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l0:rel:calls:&lt;from-natural-key&gt;-&gt;&lt;to-natural-key&gt;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relation_type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from_type / from_natural_key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/ ClienteService.buscar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to_type / to_natural_key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/ ClienteRepository.findById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from_record / to_record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ids L0 completos dos dois records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/ evidence[]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hipótese + provas reconstruídas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325880"/>
          <a:ext cx="5212080" cy="443484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</a:tblGrid>
              <a:tr h="739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6E8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F9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6E8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prova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F99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kind=artifact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manifest_id + artifact_path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content_sha256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conteúdo exato do artefato preparado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start_line / end_line do símbolo ou chamada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kind=repository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repo://repo@revision/file#Lx-Ly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node_keys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liga o payload semântico ao Graphify key_map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</a:tr>
            </a:tbl>
          </a:graphicData>
        </a:graphic>
      </p:graphicFrame>
      <p:sp>
        <p:nvSpPr>
          <p:cNvPr id="16" name="Text 12"/>
          <p:cNvSpPr/>
          <p:nvPr/>
        </p:nvSpPr>
        <p:spPr>
          <a:xfrm>
            <a:off x="6400800" y="58978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evidence resolvida contra o artifact manifest, o finalize rejeita record/relation antes de persistir o candidate.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FrontierFacts — o que o L0 deriva para sua fronteira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projeção determinística dos records que atravessam o repositório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Slice · Descobrir  •  slide 8/18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337560" cy="1965960"/>
          </a:xfrm>
          <a:prstGeom prst="roundedRectangle">
            <a:avLst>
              <a:gd name="adj" fmla="val 3721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43560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6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INTERNOS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73736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/ service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permanecem no grafo intra-repo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60520" y="1325880"/>
            <a:ext cx="3337560" cy="1965960"/>
          </a:xfrm>
          <a:prstGeom prst="roundedRectangle">
            <a:avLst>
              <a:gd name="adj" fmla="val 3721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97680" y="143560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ELEGÍVEIS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0" y="173736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http_inbound / http_outbound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config_binding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topic_publish / topic_consume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podem virar FrontierFacts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0" y="1325880"/>
            <a:ext cx="3840480" cy="1965960"/>
          </a:xfrm>
          <a:prstGeom prst="roundedRectangle">
            <a:avLst>
              <a:gd name="adj" fmla="val 3721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909560" y="14356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8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FACT DERIVADO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909560" y="173736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l0:ff:&lt;kind&gt;:&lt;hash16&gt;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+ origem + contract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que o L1 pode conectar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11880" y="2057400"/>
            <a:ext cx="411480" cy="274320"/>
          </a:xfrm>
          <a:prstGeom prst="rightArrow">
            <a:avLst/>
          </a:prstGeom>
          <a:solidFill>
            <a:srgbClr val="6B717F"/>
          </a:solidFill>
          <a:ln/>
        </p:spPr>
      </p:sp>
      <p:sp>
        <p:nvSpPr>
          <p:cNvPr id="15" name="Shape 13"/>
          <p:cNvSpPr/>
          <p:nvPr/>
        </p:nvSpPr>
        <p:spPr>
          <a:xfrm>
            <a:off x="7223760" y="2057400"/>
            <a:ext cx="411480" cy="274320"/>
          </a:xfrm>
          <a:prstGeom prst="rightArrow">
            <a:avLst/>
          </a:prstGeom>
          <a:solidFill>
            <a:srgbClr val="6B717F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11880"/>
          <a:ext cx="11064240" cy="2057400"/>
        </p:xfrm>
        <a:graphic>
          <a:graphicData uri="http://schemas.openxmlformats.org/drawingml/2006/table">
            <a:tbl>
              <a:tblPr/>
              <a:tblGrid>
                <a:gridCol w="3474720"/>
                <a:gridCol w="7589520"/>
              </a:tblGrid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6E8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 do FrontierFact atual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F9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6E8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 derivado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F9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/ kind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l0:ff:http_outbound:&lt;hash16&gt; / http_outbound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namespace / logical_repo / source_revision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 / cliente-service / git SHA aceito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/ path / contract_key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/addresses/{param} / GET /addresses/{param}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config_key / topic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address.api.url / opcional conforme kind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/ line / evidence_snippet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AddressClient.kt / 9 / rest.get(...addresses...)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IMPORTANTE: FrontierFacts NÃO são armazenados como frontier_facts[] dentro do package_json. Eles são derivados dos records na exportação/extração.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L0 é salvo hoje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canônico imutável + ponteiro aceito pelo Human Gate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Slice · Descobrir  •  slide 9/18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5394960" cy="2377440"/>
        </p:xfrm>
        <a:graphic>
          <a:graphicData uri="http://schemas.openxmlformats.org/drawingml/2006/table">
            <a:tbl>
              <a:tblPr/>
              <a:tblGrid>
                <a:gridCol w="2743200"/>
                <a:gridCol w="2651760"/>
              </a:tblGrid>
              <a:tr h="3396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6E8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candidate_packages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F9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6E8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F99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PK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namespace / logical_repo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source_revision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canonical_graph_hash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package_json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created_at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325880"/>
          <a:ext cx="5394960" cy="2057400"/>
        </p:xfrm>
        <a:graphic>
          <a:graphicData uri="http://schemas.openxmlformats.org/drawingml/2006/table">
            <a:tbl>
              <a:tblPr/>
              <a:tblGrid>
                <a:gridCol w="2743200"/>
                <a:gridCol w="26517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6E8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accepted_baselines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F9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6E8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F9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namespace / logical_repo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→ candidate_packages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accepted_at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3977640"/>
            <a:ext cx="5394960" cy="1600200"/>
          </a:xfrm>
          <a:prstGeom prst="roundedRectangle">
            <a:avLst>
              <a:gd name="adj" fmla="val 4571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85800" y="408736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6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package_json — CONTEÚDO REAL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85800" y="438912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artifact_manifest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records[] + relations[]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graph_index + coverage_report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contém frontier_facts[]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217920" y="3977640"/>
            <a:ext cx="5394960" cy="1600200"/>
          </a:xfrm>
          <a:prstGeom prst="roundedRectangle">
            <a:avLst>
              <a:gd name="adj" fmla="val 4571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355080" y="408736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ATUAL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355080" y="438912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→ candidate imutável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canonical_graph_hash verifica o snapshot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 → accepted_baselines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aceitar troca apenas o ponteiro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48640" y="585216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L0 é lido hoje como pacote completo. FrontierFacts são derivados dos records quando o L1 precisa da fronteira.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 — FrontierFacts de dois repos viram SystemEdge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 por contrato normalizado, sempre cross-repo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Slice · Descobrir  •  slide 10/18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1325880" cy="1325880"/>
          </a:xfrm>
          <a:prstGeom prst="ellipse">
            <a:avLst/>
          </a:prstGeom>
          <a:solidFill>
            <a:srgbClr val="1D2026"/>
          </a:solidFill>
          <a:ln w="25400">
            <a:solidFill>
              <a:srgbClr val="E8A33D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795528" y="2194560"/>
            <a:ext cx="1106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http_outbound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cliente-service · l0:ff:*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394960" y="1828800"/>
            <a:ext cx="1325880" cy="1325880"/>
          </a:xfrm>
          <a:prstGeom prst="ellipse">
            <a:avLst/>
          </a:prstGeom>
          <a:solidFill>
            <a:srgbClr val="1D2026"/>
          </a:solidFill>
          <a:ln w="25400">
            <a:solidFill>
              <a:srgbClr val="6F8196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504688" y="2194560"/>
            <a:ext cx="1106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http_inbound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257800" y="320040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81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address-service · l0:ff:*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148840" y="2487168"/>
            <a:ext cx="3154680" cy="0"/>
          </a:xfrm>
          <a:prstGeom prst="line">
            <a:avLst/>
          </a:prstGeom>
          <a:noFill/>
          <a:ln w="25400">
            <a:solidFill>
              <a:srgbClr val="3ECF8E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148840" y="2176272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contract_key = GET /addresses/{param}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148840" y="2359152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B71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matchFrontiers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7315200" y="1325880"/>
            <a:ext cx="4297680" cy="2331720"/>
          </a:xfrm>
          <a:prstGeom prst="roundedRectangle">
            <a:avLst>
              <a:gd name="adj" fmla="val 3137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52360" y="143560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DO MATCHER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52360" y="1737360"/>
            <a:ext cx="4023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config_binding correto → 0.95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path_contract apenas → 0.55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aponta para outro repo → rejeita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logical_repo → ignora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46120" y="3794760"/>
            <a:ext cx="365760" cy="640080"/>
          </a:xfrm>
          <a:prstGeom prst="downArrow">
            <a:avLst/>
          </a:prstGeom>
          <a:solidFill>
            <a:srgbClr val="6B717F"/>
          </a:solidFill>
          <a:ln/>
        </p:spPr>
      </p:sp>
      <p:sp>
        <p:nvSpPr>
          <p:cNvPr id="18" name="Shape 16"/>
          <p:cNvSpPr/>
          <p:nvPr/>
        </p:nvSpPr>
        <p:spPr>
          <a:xfrm>
            <a:off x="1417320" y="4572000"/>
            <a:ext cx="4663440" cy="1143000"/>
          </a:xfrm>
          <a:prstGeom prst="roundedRectangle">
            <a:avLst>
              <a:gd name="adj" fmla="val 6400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554480" y="468172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6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SystemEdge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54480" y="498348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l1:edge:&lt;hash32&gt;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from.fact_id = l0:ff:http_outbound:*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to.fact_id = l0:ff:http_inbound:*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0" y="4069080"/>
            <a:ext cx="4297680" cy="1645920"/>
          </a:xfrm>
          <a:prstGeom prst="roundedRectangle">
            <a:avLst>
              <a:gd name="adj" fmla="val 4444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52360" y="417880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ARQUITETURAL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52360" y="448056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aponta para l0:ff:*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diretamente para l0:method:*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L1 representa somente relações entre repos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 SystemEdge — campos e persistência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consultáveis + objeto completo em edge_json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Slice · Descobrir  •  slide 11/18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5486400" cy="4389120"/>
        </p:xfrm>
        <a:graphic>
          <a:graphicData uri="http://schemas.openxmlformats.org/drawingml/2006/table">
            <a:tbl>
              <a:tblPr/>
              <a:tblGrid>
                <a:gridCol w="2103120"/>
                <a:gridCol w="3383280"/>
              </a:tblGrid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6E8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 do SystemEdge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F9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6E8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Significado atual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F9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l1:edge:&lt;hash32&gt;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/ 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namespace, logical_repo, fact_id l0:ff:*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contract_key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 + path normalizados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/ path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contrato HTTP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evidence_class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contract-matched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match_kind / 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config_binding 0.95 ou path_contract 0.55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config_key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evidence[]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lado from/to + file/line/snippet/revision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309360" y="1325880"/>
            <a:ext cx="5303520" cy="2148840"/>
          </a:xfrm>
          <a:prstGeom prst="roundedRectangle">
            <a:avLst>
              <a:gd name="adj" fmla="val 3404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46520" y="143560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6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system_edges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46520" y="173736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edge_id PK + system_namespace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from_* / to_* + contract_key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method/path/match_kind/score/config_key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edge_json + created_at + id_version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09360" y="3749040"/>
            <a:ext cx="5303520" cy="1325880"/>
          </a:xfrm>
          <a:prstGeom prst="roundedRectangle">
            <a:avLst>
              <a:gd name="adj" fmla="val 5517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46520" y="38587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system_stitch_runs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46520" y="41605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run_id + system_namespace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repos_json + edge_count + created_at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309360" y="534924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 atual: INSERT OR IGNORE por edge_id torna o stitch idempotente. Não existe ponteiro current no L1; edges de runs diferentes acumulam.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 — L1 propõe, L0 enriquece, Bind confirma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não nasce apenas do L1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Slice · Descobrir  •  slide 12/18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063240" cy="1417320"/>
          </a:xfrm>
          <a:prstGeom prst="roundedRectangle">
            <a:avLst>
              <a:gd name="adj" fmla="val 5161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43560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system_edges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73736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cliente-service → address-service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+ evidence + score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49040" y="1828800"/>
            <a:ext cx="594360" cy="274320"/>
          </a:xfrm>
          <a:prstGeom prst="rightArrow">
            <a:avLst/>
          </a:prstGeom>
          <a:solidFill>
            <a:srgbClr val="6B717F"/>
          </a:solidFill>
          <a:ln/>
        </p:spPr>
      </p:sp>
      <p:sp>
        <p:nvSpPr>
          <p:cNvPr id="9" name="Shape 7"/>
          <p:cNvSpPr/>
          <p:nvPr/>
        </p:nvSpPr>
        <p:spPr>
          <a:xfrm>
            <a:off x="4480560" y="1325880"/>
            <a:ext cx="3154680" cy="1417320"/>
          </a:xfrm>
          <a:prstGeom prst="roundedRectangle">
            <a:avLst>
              <a:gd name="adj" fmla="val 5161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143560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6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propose-from-l1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17720" y="173736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edges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JourneySpec skeleton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ainda não afirma regra de negócio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0" y="1828800"/>
            <a:ext cx="594360" cy="274320"/>
          </a:xfrm>
          <a:prstGeom prst="rightArrow">
            <a:avLst/>
          </a:prstGeom>
          <a:solidFill>
            <a:srgbClr val="6B717F"/>
          </a:solidFill>
          <a:ln/>
        </p:spPr>
      </p:sp>
      <p:sp>
        <p:nvSpPr>
          <p:cNvPr id="13" name="Shape 11"/>
          <p:cNvSpPr/>
          <p:nvPr/>
        </p:nvSpPr>
        <p:spPr>
          <a:xfrm>
            <a:off x="8503920" y="1325880"/>
            <a:ext cx="3108960" cy="1417320"/>
          </a:xfrm>
          <a:prstGeom prst="roundedRectangle">
            <a:avLst>
              <a:gd name="adj" fmla="val 5161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41080" y="143560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6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JourneySpec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41080" y="17373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+ steps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contract_prefix + provenance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pipeline.stage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383280"/>
            <a:ext cx="3063240" cy="1417320"/>
          </a:xfrm>
          <a:prstGeom prst="roundedRectangle">
            <a:avLst>
              <a:gd name="adj" fmla="val 5161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349300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 accepted packages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379476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/ Services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files e body hotspots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49040" y="3886200"/>
            <a:ext cx="594360" cy="274320"/>
          </a:xfrm>
          <a:prstGeom prst="rightArrow">
            <a:avLst/>
          </a:prstGeom>
          <a:solidFill>
            <a:srgbClr val="6B717F"/>
          </a:solidFill>
          <a:ln/>
        </p:spPr>
      </p:sp>
      <p:sp>
        <p:nvSpPr>
          <p:cNvPr id="20" name="Shape 18"/>
          <p:cNvSpPr/>
          <p:nvPr/>
        </p:nvSpPr>
        <p:spPr>
          <a:xfrm>
            <a:off x="4480560" y="3383280"/>
            <a:ext cx="3154680" cy="1417320"/>
          </a:xfrm>
          <a:prstGeom prst="roundedRectangle">
            <a:avLst>
              <a:gd name="adj" fmla="val 5161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17720" y="349300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enrich-from-l0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17720" y="379476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 anchors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body_read_required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warnings se baseline/anchor faltar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0" y="3886200"/>
            <a:ext cx="594360" cy="274320"/>
          </a:xfrm>
          <a:prstGeom prst="rightArrow">
            <a:avLst/>
          </a:prstGeom>
          <a:solidFill>
            <a:srgbClr val="6B717F"/>
          </a:solidFill>
          <a:ln/>
        </p:spPr>
      </p:sp>
      <p:sp>
        <p:nvSpPr>
          <p:cNvPr id="24" name="Shape 22"/>
          <p:cNvSpPr/>
          <p:nvPr/>
        </p:nvSpPr>
        <p:spPr>
          <a:xfrm>
            <a:off x="8503920" y="3383280"/>
            <a:ext cx="3108960" cy="1417320"/>
          </a:xfrm>
          <a:prstGeom prst="roundedRectangle">
            <a:avLst>
              <a:gd name="adj" fmla="val 5161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41080" y="349300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41080" y="37947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× L1 edges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= bound ou gap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complete ou partial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54864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real: L1 fornece os hops; L0 fornece os anchors do código; Bind confirma quais steps têm edges e quais permanecem gaps.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 — campos e persistência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+ bind imutáveis, índice reverso e ponteiro current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Slice · Descobrir  •  slide 13/18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5486400" cy="2560320"/>
        </p:xfrm>
        <a:graphic>
          <a:graphicData uri="http://schemas.openxmlformats.org/drawingml/2006/table">
            <a:tbl>
              <a:tblPr/>
              <a:tblGrid>
                <a:gridCol w="2011680"/>
                <a:gridCol w="3474720"/>
              </a:tblGrid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6E8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JourneySpec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F9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6E8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 atual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F99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/ system_namespace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identidade da jornada e sistema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members[]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logical_repos participantes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steps[]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trigger, from, to, contract_prefix, description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provenance / pipeline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edge_ids, match_kinds, evidence, stage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enrichment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l0_anchors, hotspots, warnings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325880"/>
          <a:ext cx="5303520" cy="2560320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</a:tblGrid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6E8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BindResult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F9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6E8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 atual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F99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journey_id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l2:journey:&lt;spec.id&gt;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journey_hash / bind_id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 determinístico / l2:bind:&lt;hash32&gt;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steps_bound / steps_gap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contadores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bound[] / gaps[]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edges encontrados / reason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BA1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ou partial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026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251960"/>
            <a:ext cx="2743200" cy="1417320"/>
          </a:xfrm>
          <a:prstGeom prst="roundedRectangle">
            <a:avLst>
              <a:gd name="adj" fmla="val 5161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85800" y="43616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6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journey_specs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85800" y="46634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spec_revision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spec_json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474720" y="4251960"/>
            <a:ext cx="2743200" cy="1417320"/>
          </a:xfrm>
          <a:prstGeom prst="roundedRectangle">
            <a:avLst>
              <a:gd name="adj" fmla="val 5161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3611880" y="43616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journey_binds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611880" y="46634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bind_id + journey_hash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status/counts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members_json + bind_json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0" y="4251960"/>
            <a:ext cx="2468880" cy="1417320"/>
          </a:xfrm>
          <a:prstGeom prst="roundedRectangle">
            <a:avLst>
              <a:gd name="adj" fmla="val 5161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6537960" y="436168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journey_step_edges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537960" y="46634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edge_id ou __gap__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9052560" y="4251960"/>
            <a:ext cx="2560320" cy="1417320"/>
          </a:xfrm>
          <a:prstGeom prst="roundedRectangle">
            <a:avLst>
              <a:gd name="adj" fmla="val 5161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9189720" y="43616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8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journey_current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9189720" y="46634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system_namespace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bind_id atual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journey_current é o ponteiro do L2: list/show resolvem o bind atual, enquanto versões antigas permanecem preservadas.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Slice — uma fatia do código para uma tarefa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 somente o pedaço relevante do grafo e o coloca na memória do agente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Slice · Descobrir  •  slide 14/18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3154680" cy="3429000"/>
          </a:xfrm>
          <a:prstGeom prst="roundedRectangle">
            <a:avLst>
              <a:gd name="adj" fmla="val 2319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3560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O SISTEMA INTEIRO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28803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centenas de records L0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relações dentro dos repos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SystemEdges L1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journeys L2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demais para carregar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8680" y="2240280"/>
            <a:ext cx="438912" cy="438912"/>
          </a:xfrm>
          <a:prstGeom prst="ellipse">
            <a:avLst/>
          </a:prstGeom>
          <a:solidFill>
            <a:srgbClr val="23262D"/>
          </a:solidFill>
          <a:ln w="12700">
            <a:solidFill>
              <a:srgbClr val="6B717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00200" y="1828800"/>
            <a:ext cx="438912" cy="438912"/>
          </a:xfrm>
          <a:prstGeom prst="ellipse">
            <a:avLst/>
          </a:prstGeom>
          <a:solidFill>
            <a:srgbClr val="23262D"/>
          </a:solidFill>
          <a:ln w="12700">
            <a:solidFill>
              <a:srgbClr val="6B717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31720" y="2423160"/>
            <a:ext cx="438912" cy="438912"/>
          </a:xfrm>
          <a:prstGeom prst="ellipse">
            <a:avLst/>
          </a:prstGeom>
          <a:solidFill>
            <a:srgbClr val="23262D"/>
          </a:solidFill>
          <a:ln w="12700">
            <a:solidFill>
              <a:srgbClr val="6B717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34440" y="3063240"/>
            <a:ext cx="438912" cy="438912"/>
          </a:xfrm>
          <a:prstGeom prst="ellipse">
            <a:avLst/>
          </a:prstGeom>
          <a:solidFill>
            <a:srgbClr val="23262D"/>
          </a:solidFill>
          <a:ln w="12700">
            <a:solidFill>
              <a:srgbClr val="6B717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23160" y="3429000"/>
            <a:ext cx="438912" cy="438912"/>
          </a:xfrm>
          <a:prstGeom prst="ellipse">
            <a:avLst/>
          </a:prstGeom>
          <a:solidFill>
            <a:srgbClr val="23262D"/>
          </a:solidFill>
          <a:ln w="12700">
            <a:solidFill>
              <a:srgbClr val="6B717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80160" y="2331720"/>
            <a:ext cx="1097280" cy="256032"/>
          </a:xfrm>
          <a:prstGeom prst="line">
            <a:avLst/>
          </a:prstGeom>
          <a:noFill/>
          <a:ln w="12700">
            <a:solidFill>
              <a:srgbClr val="6B717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17320" y="3063240"/>
            <a:ext cx="1097280" cy="411480"/>
          </a:xfrm>
          <a:prstGeom prst="line">
            <a:avLst/>
          </a:prstGeom>
          <a:noFill/>
          <a:ln w="12700">
            <a:solidFill>
              <a:srgbClr val="6B717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94760" y="2697480"/>
            <a:ext cx="502920" cy="274320"/>
          </a:xfrm>
          <a:prstGeom prst="rightArrow">
            <a:avLst/>
          </a:prstGeom>
          <a:solidFill>
            <a:srgbClr val="6B717F"/>
          </a:solidFill>
          <a:ln/>
        </p:spPr>
      </p:sp>
      <p:sp>
        <p:nvSpPr>
          <p:cNvPr id="16" name="Shape 14"/>
          <p:cNvSpPr/>
          <p:nvPr/>
        </p:nvSpPr>
        <p:spPr>
          <a:xfrm>
            <a:off x="4434840" y="1325880"/>
            <a:ext cx="3154680" cy="3429000"/>
          </a:xfrm>
          <a:prstGeom prst="roundedRectangle">
            <a:avLst>
              <a:gd name="adj" fmla="val 2319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0" y="143560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6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SEED + POLICY RECORTAM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1737360"/>
            <a:ext cx="28803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seed: AddressClient.get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pergunta: por que falha?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segue relações permitidas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 L0 + L1 + L2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misses e evidence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92040" y="2971800"/>
            <a:ext cx="548640" cy="548640"/>
          </a:xfrm>
          <a:prstGeom prst="ellipse">
            <a:avLst/>
          </a:prstGeom>
          <a:solidFill>
            <a:srgbClr val="4A3F99"/>
          </a:solidFill>
          <a:ln w="25400">
            <a:solidFill>
              <a:srgbClr val="7C6C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06440" y="2331720"/>
            <a:ext cx="548640" cy="548640"/>
          </a:xfrm>
          <a:prstGeom prst="ellipse">
            <a:avLst/>
          </a:prstGeom>
          <a:solidFill>
            <a:srgbClr val="4A3F99"/>
          </a:solidFill>
          <a:ln w="25400">
            <a:solidFill>
              <a:srgbClr val="7C6C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29400" y="2971800"/>
            <a:ext cx="548640" cy="548640"/>
          </a:xfrm>
          <a:prstGeom prst="ellipse">
            <a:avLst/>
          </a:prstGeom>
          <a:solidFill>
            <a:srgbClr val="4A3F99"/>
          </a:solidFill>
          <a:ln w="25400">
            <a:solidFill>
              <a:srgbClr val="7C6C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40680" y="3154680"/>
            <a:ext cx="457200" cy="-457200"/>
          </a:xfrm>
          <a:prstGeom prst="line">
            <a:avLst/>
          </a:prstGeom>
          <a:noFill/>
          <a:ln w="25400">
            <a:solidFill>
              <a:srgbClr val="7C6CF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355080" y="2697480"/>
            <a:ext cx="320040" cy="457200"/>
          </a:xfrm>
          <a:prstGeom prst="line">
            <a:avLst/>
          </a:prstGeom>
          <a:noFill/>
          <a:ln w="25400">
            <a:solidFill>
              <a:srgbClr val="7C6CF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726680" y="2697480"/>
            <a:ext cx="502920" cy="274320"/>
          </a:xfrm>
          <a:prstGeom prst="rightArrow">
            <a:avLst/>
          </a:prstGeom>
          <a:solidFill>
            <a:srgbClr val="6B717F"/>
          </a:solidFill>
          <a:ln/>
        </p:spPr>
      </p:sp>
      <p:sp>
        <p:nvSpPr>
          <p:cNvPr id="25" name="Shape 23"/>
          <p:cNvSpPr/>
          <p:nvPr/>
        </p:nvSpPr>
        <p:spPr>
          <a:xfrm>
            <a:off x="8366760" y="1325880"/>
            <a:ext cx="3246120" cy="3429000"/>
          </a:xfrm>
          <a:prstGeom prst="roundedRectangle">
            <a:avLst>
              <a:gd name="adj" fmla="val 2254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503920" y="143560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SLICE NA MEMÓRIA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503920" y="1737360"/>
            <a:ext cx="29718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ClienteService.buscar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AddressClient.get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address.api.url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SystemEdge → Address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step + evidence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732520" y="3063240"/>
            <a:ext cx="2514600" cy="1143000"/>
          </a:xfrm>
          <a:prstGeom prst="roundedRectangle">
            <a:avLst>
              <a:gd name="adj" fmla="val 4800"/>
            </a:avLst>
          </a:prstGeom>
          <a:solidFill>
            <a:srgbClr val="0A0C0F"/>
          </a:solidFill>
          <a:ln w="19050">
            <a:solidFill>
              <a:srgbClr val="3ECF8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15400" y="331012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CONTEXT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[slice:&lt;hash&gt;]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ready to reason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5074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de uso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394960"/>
            <a:ext cx="3474720" cy="777240"/>
          </a:xfrm>
          <a:prstGeom prst="roundedRectangle">
            <a:avLst>
              <a:gd name="adj" fmla="val 9412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85800" y="55046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5800" y="5806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“por que a consulta de endereço falha?”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343400" y="5394960"/>
            <a:ext cx="3474720" cy="777240"/>
          </a:xfrm>
          <a:prstGeom prst="roundedRectangle">
            <a:avLst>
              <a:gd name="adj" fmla="val 9412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480560" y="55046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480560" y="5806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 que quebra se eu mudar este endpoint?”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138160" y="5394960"/>
            <a:ext cx="3474720" cy="777240"/>
          </a:xfrm>
          <a:prstGeom prst="roundedRectangle">
            <a:avLst>
              <a:gd name="adj" fmla="val 9412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275320" y="55046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275320" y="5806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“como esse fluxo atravessa os serviços?”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— como o contexto é buscado e carregado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pergunta do usuário até o Pack dentro da memória do agente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Slice · Descobrir  •  slide 15/18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685800"/>
          </a:xfrm>
          <a:prstGeom prst="roundedRectangle">
            <a:avLst>
              <a:gd name="adj" fmla="val 8000"/>
            </a:avLst>
          </a:prstGeom>
          <a:solidFill>
            <a:srgbClr val="0A0C0F"/>
          </a:solidFill>
          <a:ln w="19050">
            <a:solidFill>
              <a:srgbClr val="7C6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35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 ›  “Por que a consulta de endereço falha?”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3337560" cy="1417320"/>
          </a:xfrm>
          <a:prstGeom prst="roundedRectangle">
            <a:avLst>
              <a:gd name="adj" fmla="val 5161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30428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6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INTERPRETAR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6060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= AddressClient.get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= dependency-neighborhood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+ pergunta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23360" y="2743200"/>
            <a:ext cx="502920" cy="256032"/>
          </a:xfrm>
          <a:prstGeom prst="rightArrow">
            <a:avLst/>
          </a:prstGeom>
          <a:solidFill>
            <a:srgbClr val="6B717F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2194560"/>
            <a:ext cx="2926080" cy="1417320"/>
          </a:xfrm>
          <a:prstGeom prst="roundedRectangle">
            <a:avLst>
              <a:gd name="adj" fmla="val 5161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23042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DERIVATION KEY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26060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 + policy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 hashes + L1 edge set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journey hashes + versions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26680" y="2743200"/>
            <a:ext cx="502920" cy="256032"/>
          </a:xfrm>
          <a:prstGeom prst="rightArrow">
            <a:avLst/>
          </a:prstGeom>
          <a:solidFill>
            <a:srgbClr val="6B717F"/>
          </a:solidFill>
          <a:ln/>
        </p:spPr>
      </p:sp>
      <p:sp>
        <p:nvSpPr>
          <p:cNvPr id="15" name="Shape 13"/>
          <p:cNvSpPr/>
          <p:nvPr/>
        </p:nvSpPr>
        <p:spPr>
          <a:xfrm>
            <a:off x="8366760" y="2194560"/>
            <a:ext cx="3246120" cy="1417320"/>
          </a:xfrm>
          <a:prstGeom prst="roundedRectangle">
            <a:avLst>
              <a:gd name="adj" fmla="val 5161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503920" y="230428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BUSCAR SLICE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03920" y="26060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por derivation_key/current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→ reutiliza slice:&lt;hash&gt;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→ materializa L0+L1+L2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3337560" cy="1417320"/>
          </a:xfrm>
          <a:prstGeom prst="roundedRectangle">
            <a:avLst>
              <a:gd name="adj" fmla="val 5161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" y="413308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CRIAR PACK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44348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= 1.200 tokens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 seed + caminho crítico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mantém evidence e pointers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023360" y="4572000"/>
            <a:ext cx="502920" cy="256032"/>
          </a:xfrm>
          <a:prstGeom prst="rightArrow">
            <a:avLst/>
          </a:prstGeom>
          <a:solidFill>
            <a:srgbClr val="6B717F"/>
          </a:solidFill>
          <a:ln/>
        </p:spPr>
      </p:sp>
      <p:sp>
        <p:nvSpPr>
          <p:cNvPr id="22" name="Shape 20"/>
          <p:cNvSpPr/>
          <p:nvPr/>
        </p:nvSpPr>
        <p:spPr>
          <a:xfrm>
            <a:off x="4663440" y="4023360"/>
            <a:ext cx="2926080" cy="1417320"/>
          </a:xfrm>
          <a:prstGeom prst="roundedRectangle">
            <a:avLst>
              <a:gd name="adj" fmla="val 5161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00600" y="41330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6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CARREGAR MEMÓRIA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44348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pack:&lt;hash&gt; entra no context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→ Client →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+ edge + file:line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26680" y="4572000"/>
            <a:ext cx="502920" cy="256032"/>
          </a:xfrm>
          <a:prstGeom prst="rightArrow">
            <a:avLst/>
          </a:prstGeom>
          <a:solidFill>
            <a:srgbClr val="6B717F"/>
          </a:solidFill>
          <a:ln/>
        </p:spPr>
      </p:sp>
      <p:sp>
        <p:nvSpPr>
          <p:cNvPr id="26" name="Shape 24"/>
          <p:cNvSpPr/>
          <p:nvPr/>
        </p:nvSpPr>
        <p:spPr>
          <a:xfrm>
            <a:off x="8366760" y="4023360"/>
            <a:ext cx="3246120" cy="1417320"/>
          </a:xfrm>
          <a:prstGeom prst="roundedRectangle">
            <a:avLst>
              <a:gd name="adj" fmla="val 5161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503920" y="413308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AGENTE RESPONDE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503920" y="44348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raciocina só sobre a fatia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 ClienteService.kt:10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aponta config/edge/miss relevante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715000"/>
            <a:ext cx="11064240" cy="502920"/>
          </a:xfrm>
          <a:prstGeom prst="roundedRectangle">
            <a:avLst>
              <a:gd name="adj" fmla="val 7273"/>
            </a:avLst>
          </a:prstGeom>
          <a:solidFill>
            <a:srgbClr val="16181D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85216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evita reconstrução. MISS materializa e persiste. Em ambos os casos, o agente recebe o Pack — não o banco inteiro nem todo o repositório.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Portable Evidence — como o código entra na memória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guarda identidade lógica; Hydrator resolve e verifica os bytes na máquina atual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Slice · Descobrir  •  slide 16/18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2971800" cy="3474720"/>
          </a:xfrm>
          <a:prstGeom prst="roundedRectangle">
            <a:avLst>
              <a:gd name="adj" fmla="val 2462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3560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6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POINTER PORTÁTIL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2697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logical_repo: cliente-service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revision: a1b2c3d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path: src/.../ClienteService.kt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L38-L52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content_sha256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/Users, /home ou C:\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9776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6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repo://cliente-service@a1b2c3d/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C6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src/.../ClienteService.kt#L38-L52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11880" y="2743200"/>
            <a:ext cx="502920" cy="274320"/>
          </a:xfrm>
          <a:prstGeom prst="rightArrow">
            <a:avLst/>
          </a:prstGeom>
          <a:solidFill>
            <a:srgbClr val="6B717F"/>
          </a:solidFill>
          <a:ln/>
        </p:spPr>
      </p:sp>
      <p:sp>
        <p:nvSpPr>
          <p:cNvPr id="10" name="Shape 8"/>
          <p:cNvSpPr/>
          <p:nvPr/>
        </p:nvSpPr>
        <p:spPr>
          <a:xfrm>
            <a:off x="4251960" y="1325880"/>
            <a:ext cx="2971800" cy="3474720"/>
          </a:xfrm>
          <a:prstGeom prst="roundedRectangle">
            <a:avLst>
              <a:gd name="adj" fmla="val 2462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89120" y="143560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CONTEXT HYDRATOR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89120" y="1737360"/>
            <a:ext cx="2697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RepoBinding local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revisão exata via Git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bloqueia path escape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recorta range/símbolo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content_sha256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 fechado se divergir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3886200"/>
            <a:ext cx="2240280" cy="640080"/>
          </a:xfrm>
          <a:prstGeom prst="roundedRectangle">
            <a:avLst>
              <a:gd name="adj" fmla="val 5714"/>
            </a:avLst>
          </a:prstGeom>
          <a:solidFill>
            <a:srgbClr val="0A0C0F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405079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show a1b2c3d: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src/.../ClienteService.kt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360920" y="2743200"/>
            <a:ext cx="502920" cy="274320"/>
          </a:xfrm>
          <a:prstGeom prst="rightArrow">
            <a:avLst/>
          </a:prstGeom>
          <a:solidFill>
            <a:srgbClr val="6B717F"/>
          </a:solidFill>
          <a:ln/>
        </p:spPr>
      </p:sp>
      <p:sp>
        <p:nvSpPr>
          <p:cNvPr id="16" name="Shape 14"/>
          <p:cNvSpPr/>
          <p:nvPr/>
        </p:nvSpPr>
        <p:spPr>
          <a:xfrm>
            <a:off x="8001000" y="1325880"/>
            <a:ext cx="3611880" cy="3474720"/>
          </a:xfrm>
          <a:prstGeom prst="roundedRectangle">
            <a:avLst>
              <a:gd name="adj" fmla="val 2105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138160" y="143560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AGENT CONTEXT ENVELOPE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38160" y="1737360"/>
            <a:ext cx="3337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+ pergunta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obrigatório hidratado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pointers opcionais para leitura lazy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hash_verified=true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ContextLoadReceipt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IDs disponíveis para citação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412480" y="3840480"/>
            <a:ext cx="2788920" cy="749808"/>
          </a:xfrm>
          <a:prstGeom prst="roundedRectangle">
            <a:avLst>
              <a:gd name="adj" fmla="val 4878"/>
            </a:avLst>
          </a:prstGeom>
          <a:solidFill>
            <a:srgbClr val="0A0C0F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0" y="40507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required: 5 · loaded: 5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failed: 0 · hash verified: 5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8640" y="5212080"/>
            <a:ext cx="5303520" cy="914400"/>
          </a:xfrm>
          <a:prstGeom prst="roundedRectangle">
            <a:avLst>
              <a:gd name="adj" fmla="val 8000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5800" y="532180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6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5623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seeds, caminho crítico, configs e evidence entram antes da primeira chamada do LLM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5212080"/>
            <a:ext cx="5394960" cy="914400"/>
          </a:xfrm>
          <a:prstGeom prst="roundedRectangle">
            <a:avLst>
              <a:gd name="adj" fmla="val 8000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55080" y="532180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8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55080" y="5623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vizinhos secundários ficam como pointers e usam read_code_pointer(evidence_id)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Repository — Git canônico, SQLite local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arquitetural da empresa revisada por PR, sem banco central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Slice · Descobrir  •  slide 17/18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2971800" cy="3886200"/>
          </a:xfrm>
          <a:prstGeom prst="roundedRectangle">
            <a:avLst>
              <a:gd name="adj" fmla="val 2462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8988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REPOSITORIES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26974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cliente-service @ sha 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address-service @ sha 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payment-service @ sha 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serviços ou features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indexação por logical_repo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11880" y="2971800"/>
            <a:ext cx="502920" cy="274320"/>
          </a:xfrm>
          <a:prstGeom prst="rightArrow">
            <a:avLst/>
          </a:prstGeom>
          <a:solidFill>
            <a:srgbClr val="6B717F"/>
          </a:solidFill>
          <a:ln/>
        </p:spPr>
      </p:sp>
      <p:sp>
        <p:nvSpPr>
          <p:cNvPr id="9" name="Shape 7"/>
          <p:cNvSpPr/>
          <p:nvPr/>
        </p:nvSpPr>
        <p:spPr>
          <a:xfrm>
            <a:off x="4251960" y="1280160"/>
            <a:ext cx="3246120" cy="3886200"/>
          </a:xfrm>
          <a:prstGeom prst="roundedRectangle">
            <a:avLst>
              <a:gd name="adj" fmla="val 2254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89120" y="138988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6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REPO · GIT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0" y="1691640"/>
            <a:ext cx="29718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objects/l0/&lt;hash&gt;.json.zst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objects/l1/&lt;hash&gt;.json.zst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objects/l2/&lt;hash&gt;.json.zst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refs/repos/*.json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refs/systems/*.json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manifest.lock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diff revisável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35240" y="2971800"/>
            <a:ext cx="502920" cy="274320"/>
          </a:xfrm>
          <a:prstGeom prst="rightArrow">
            <a:avLst/>
          </a:prstGeom>
          <a:solidFill>
            <a:srgbClr val="6B717F"/>
          </a:solidFill>
          <a:ln/>
        </p:spPr>
      </p:sp>
      <p:sp>
        <p:nvSpPr>
          <p:cNvPr id="13" name="Shape 11"/>
          <p:cNvSpPr/>
          <p:nvPr/>
        </p:nvSpPr>
        <p:spPr>
          <a:xfrm>
            <a:off x="8275320" y="1280160"/>
            <a:ext cx="3337560" cy="3886200"/>
          </a:xfrm>
          <a:prstGeom prst="roundedRectangle">
            <a:avLst>
              <a:gd name="adj" fmla="val 2192"/>
            </a:avLst>
          </a:prstGeom>
          <a:solidFill>
            <a:srgbClr val="1D2026"/>
          </a:solidFill>
          <a:ln w="12700">
            <a:solidFill>
              <a:srgbClr val="23262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0" y="138988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MATERIALIZED VIEW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12480" y="1691640"/>
            <a:ext cx="30632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company-context.sqlite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 pelo manifest.lock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rápida e offline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ser apagado/reconstruído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 em Release ou Git LFS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é a única fonte de verdade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440680"/>
            <a:ext cx="11064240" cy="685800"/>
          </a:xfrm>
          <a:prstGeom prst="roundedRectangle">
            <a:avLst>
              <a:gd name="adj" fmla="val 6667"/>
            </a:avLst>
          </a:prstGeom>
          <a:solidFill>
            <a:srgbClr val="16181D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62356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 → novos objects/refs → semantic diff → PR → CI valida hashes/revisions → recalcula L1/L2 → Human Gate/CODEOWNERS → merge → novo SQLite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" y="51023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não versionar só o SQLite?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017520" y="510235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Binário não tem merge/diff semântico. Objects imutáveis isolam conflitos; SQLite é regenerado.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completo — quem interpreta, quem prova, quem decide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raciocina · código determinístico constrói/verifica · humano aceita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Slice · Descobrir  •  slide 18/18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955280" y="347472"/>
            <a:ext cx="201168" cy="201168"/>
          </a:xfrm>
          <a:prstGeom prst="ellipse">
            <a:avLst/>
          </a:prstGeom>
          <a:solidFill>
            <a:srgbClr val="3ECF8E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11312" y="35661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DETERMINÍSTICO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9372600" y="347472"/>
            <a:ext cx="201168" cy="201168"/>
          </a:xfrm>
          <a:prstGeom prst="ellipse">
            <a:avLst/>
          </a:prstGeom>
          <a:solidFill>
            <a:srgbClr val="7C6CFF"/>
          </a:solidFill>
          <a:ln w="12700">
            <a:solidFill>
              <a:srgbClr val="7C6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28632" y="35661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6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0195560" y="347472"/>
            <a:ext cx="201168" cy="20116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51592" y="35661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1234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↑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1600200"/>
            <a:ext cx="1481328" cy="685800"/>
          </a:xfrm>
          <a:prstGeom prst="roundedRectangle">
            <a:avLst>
              <a:gd name="adj" fmla="val 6667"/>
            </a:avLst>
          </a:prstGeom>
          <a:solidFill>
            <a:srgbClr val="1D2026"/>
          </a:solidFill>
          <a:ln w="21590">
            <a:solidFill>
              <a:srgbClr val="3ECF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81051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039112" y="1847088"/>
            <a:ext cx="274320" cy="182880"/>
          </a:xfrm>
          <a:prstGeom prst="rightArrow">
            <a:avLst/>
          </a:prstGeom>
          <a:solidFill>
            <a:srgbClr val="6B717F"/>
          </a:solidFill>
          <a:ln/>
        </p:spPr>
      </p:sp>
      <p:sp>
        <p:nvSpPr>
          <p:cNvPr id="15" name="Shape 13"/>
          <p:cNvSpPr/>
          <p:nvPr/>
        </p:nvSpPr>
        <p:spPr>
          <a:xfrm>
            <a:off x="2404872" y="1600200"/>
            <a:ext cx="1481328" cy="685800"/>
          </a:xfrm>
          <a:prstGeom prst="roundedRectangle">
            <a:avLst>
              <a:gd name="adj" fmla="val 6667"/>
            </a:avLst>
          </a:prstGeom>
          <a:solidFill>
            <a:srgbClr val="1D2026"/>
          </a:solidFill>
          <a:ln w="21590">
            <a:solidFill>
              <a:srgbClr val="3ECF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04872" y="181051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Graphify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941064" y="1847088"/>
            <a:ext cx="274320" cy="182880"/>
          </a:xfrm>
          <a:prstGeom prst="rightArrow">
            <a:avLst/>
          </a:prstGeom>
          <a:solidFill>
            <a:srgbClr val="6B717F"/>
          </a:solidFill>
          <a:ln/>
        </p:spPr>
      </p:sp>
      <p:sp>
        <p:nvSpPr>
          <p:cNvPr id="18" name="Shape 16"/>
          <p:cNvSpPr/>
          <p:nvPr/>
        </p:nvSpPr>
        <p:spPr>
          <a:xfrm>
            <a:off x="4306824" y="1600200"/>
            <a:ext cx="1481328" cy="685800"/>
          </a:xfrm>
          <a:prstGeom prst="roundedRectangle">
            <a:avLst>
              <a:gd name="adj" fmla="val 6667"/>
            </a:avLst>
          </a:prstGeom>
          <a:solidFill>
            <a:srgbClr val="1D2026"/>
          </a:solidFill>
          <a:ln w="21590">
            <a:solidFill>
              <a:srgbClr val="7C6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06824" y="181051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6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43016" y="1847088"/>
            <a:ext cx="274320" cy="182880"/>
          </a:xfrm>
          <a:prstGeom prst="rightArrow">
            <a:avLst/>
          </a:prstGeom>
          <a:solidFill>
            <a:srgbClr val="6B717F"/>
          </a:solidFill>
          <a:ln/>
        </p:spPr>
      </p:sp>
      <p:sp>
        <p:nvSpPr>
          <p:cNvPr id="21" name="Shape 19"/>
          <p:cNvSpPr/>
          <p:nvPr/>
        </p:nvSpPr>
        <p:spPr>
          <a:xfrm>
            <a:off x="6208776" y="1600200"/>
            <a:ext cx="1481328" cy="685800"/>
          </a:xfrm>
          <a:prstGeom prst="roundedRectangle">
            <a:avLst>
              <a:gd name="adj" fmla="val 6667"/>
            </a:avLst>
          </a:prstGeom>
          <a:solidFill>
            <a:srgbClr val="1D2026"/>
          </a:solidFill>
          <a:ln w="21590">
            <a:solidFill>
              <a:srgbClr val="3ECF8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08776" y="181051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744968" y="1847088"/>
            <a:ext cx="274320" cy="182880"/>
          </a:xfrm>
          <a:prstGeom prst="rightArrow">
            <a:avLst/>
          </a:prstGeom>
          <a:solidFill>
            <a:srgbClr val="6B717F"/>
          </a:solidFill>
          <a:ln/>
        </p:spPr>
      </p:sp>
      <p:sp>
        <p:nvSpPr>
          <p:cNvPr id="24" name="Shape 22"/>
          <p:cNvSpPr/>
          <p:nvPr/>
        </p:nvSpPr>
        <p:spPr>
          <a:xfrm>
            <a:off x="8110728" y="1600200"/>
            <a:ext cx="1481328" cy="685800"/>
          </a:xfrm>
          <a:prstGeom prst="roundedRectangle">
            <a:avLst>
              <a:gd name="adj" fmla="val 6667"/>
            </a:avLst>
          </a:prstGeom>
          <a:solidFill>
            <a:srgbClr val="1D2026"/>
          </a:solidFill>
          <a:ln w="21590">
            <a:solidFill>
              <a:srgbClr val="E8A3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10728" y="181051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646920" y="1847088"/>
            <a:ext cx="274320" cy="182880"/>
          </a:xfrm>
          <a:prstGeom prst="rightArrow">
            <a:avLst/>
          </a:prstGeom>
          <a:solidFill>
            <a:srgbClr val="6B717F"/>
          </a:solidFill>
          <a:ln/>
        </p:spPr>
      </p:sp>
      <p:sp>
        <p:nvSpPr>
          <p:cNvPr id="27" name="Shape 25"/>
          <p:cNvSpPr/>
          <p:nvPr/>
        </p:nvSpPr>
        <p:spPr>
          <a:xfrm>
            <a:off x="10012680" y="1600200"/>
            <a:ext cx="1481328" cy="685800"/>
          </a:xfrm>
          <a:prstGeom prst="roundedRectangle">
            <a:avLst>
              <a:gd name="adj" fmla="val 6667"/>
            </a:avLst>
          </a:prstGeom>
          <a:solidFill>
            <a:srgbClr val="1D2026"/>
          </a:solidFill>
          <a:ln w="21590">
            <a:solidFill>
              <a:srgbClr val="3ECF8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12680" y="181051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L0/L1/L2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2743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↓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" y="3108960"/>
            <a:ext cx="1481328" cy="685800"/>
          </a:xfrm>
          <a:prstGeom prst="roundedRectangle">
            <a:avLst>
              <a:gd name="adj" fmla="val 6667"/>
            </a:avLst>
          </a:prstGeom>
          <a:solidFill>
            <a:srgbClr val="1D2026"/>
          </a:solidFill>
          <a:ln w="21590">
            <a:solidFill>
              <a:srgbClr val="7C6C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31927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7C6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2039112" y="3355848"/>
            <a:ext cx="274320" cy="182880"/>
          </a:xfrm>
          <a:prstGeom prst="rightArrow">
            <a:avLst/>
          </a:prstGeom>
          <a:solidFill>
            <a:srgbClr val="6B717F"/>
          </a:solidFill>
          <a:ln/>
        </p:spPr>
      </p:sp>
      <p:sp>
        <p:nvSpPr>
          <p:cNvPr id="33" name="Shape 31"/>
          <p:cNvSpPr/>
          <p:nvPr/>
        </p:nvSpPr>
        <p:spPr>
          <a:xfrm>
            <a:off x="2404872" y="3108960"/>
            <a:ext cx="1481328" cy="685800"/>
          </a:xfrm>
          <a:prstGeom prst="roundedRectangle">
            <a:avLst>
              <a:gd name="adj" fmla="val 6667"/>
            </a:avLst>
          </a:prstGeom>
          <a:solidFill>
            <a:srgbClr val="1D2026"/>
          </a:solidFill>
          <a:ln w="21590">
            <a:solidFill>
              <a:srgbClr val="3ECF8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04872" y="331927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QueryRequest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3941064" y="3355848"/>
            <a:ext cx="274320" cy="182880"/>
          </a:xfrm>
          <a:prstGeom prst="rightArrow">
            <a:avLst/>
          </a:prstGeom>
          <a:solidFill>
            <a:srgbClr val="6B717F"/>
          </a:solidFill>
          <a:ln/>
        </p:spPr>
      </p:sp>
      <p:sp>
        <p:nvSpPr>
          <p:cNvPr id="36" name="Shape 34"/>
          <p:cNvSpPr/>
          <p:nvPr/>
        </p:nvSpPr>
        <p:spPr>
          <a:xfrm>
            <a:off x="4306824" y="3108960"/>
            <a:ext cx="1481328" cy="685800"/>
          </a:xfrm>
          <a:prstGeom prst="roundedRectangle">
            <a:avLst>
              <a:gd name="adj" fmla="val 6667"/>
            </a:avLst>
          </a:prstGeom>
          <a:solidFill>
            <a:srgbClr val="1D2026"/>
          </a:solidFill>
          <a:ln w="21590">
            <a:solidFill>
              <a:srgbClr val="3ECF8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06824" y="331927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5843016" y="3355848"/>
            <a:ext cx="274320" cy="182880"/>
          </a:xfrm>
          <a:prstGeom prst="rightArrow">
            <a:avLst/>
          </a:prstGeom>
          <a:solidFill>
            <a:srgbClr val="6B717F"/>
          </a:solidFill>
          <a:ln/>
        </p:spPr>
      </p:sp>
      <p:sp>
        <p:nvSpPr>
          <p:cNvPr id="39" name="Shape 37"/>
          <p:cNvSpPr/>
          <p:nvPr/>
        </p:nvSpPr>
        <p:spPr>
          <a:xfrm>
            <a:off x="6208776" y="3108960"/>
            <a:ext cx="1481328" cy="685800"/>
          </a:xfrm>
          <a:prstGeom prst="roundedRectangle">
            <a:avLst>
              <a:gd name="adj" fmla="val 6667"/>
            </a:avLst>
          </a:prstGeom>
          <a:solidFill>
            <a:srgbClr val="1D2026"/>
          </a:solidFill>
          <a:ln w="21590">
            <a:solidFill>
              <a:srgbClr val="3ECF8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08776" y="331927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7744968" y="3355848"/>
            <a:ext cx="274320" cy="182880"/>
          </a:xfrm>
          <a:prstGeom prst="rightArrow">
            <a:avLst/>
          </a:prstGeom>
          <a:solidFill>
            <a:srgbClr val="6B717F"/>
          </a:solidFill>
          <a:ln/>
        </p:spPr>
      </p:sp>
      <p:sp>
        <p:nvSpPr>
          <p:cNvPr id="42" name="Shape 40"/>
          <p:cNvSpPr/>
          <p:nvPr/>
        </p:nvSpPr>
        <p:spPr>
          <a:xfrm>
            <a:off x="8110728" y="3108960"/>
            <a:ext cx="1481328" cy="685800"/>
          </a:xfrm>
          <a:prstGeom prst="roundedRectangle">
            <a:avLst>
              <a:gd name="adj" fmla="val 6667"/>
            </a:avLst>
          </a:prstGeom>
          <a:solidFill>
            <a:srgbClr val="1D2026"/>
          </a:solidFill>
          <a:ln w="21590">
            <a:solidFill>
              <a:srgbClr val="3ECF8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10728" y="331927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Hydrator</a:t>
            </a:r>
            <a:endParaRPr lang="en-US" sz="1020" dirty="0"/>
          </a:p>
        </p:txBody>
      </p:sp>
      <p:sp>
        <p:nvSpPr>
          <p:cNvPr id="44" name="Shape 42"/>
          <p:cNvSpPr/>
          <p:nvPr/>
        </p:nvSpPr>
        <p:spPr>
          <a:xfrm>
            <a:off x="9646920" y="3355848"/>
            <a:ext cx="274320" cy="182880"/>
          </a:xfrm>
          <a:prstGeom prst="rightArrow">
            <a:avLst/>
          </a:prstGeom>
          <a:solidFill>
            <a:srgbClr val="6B717F"/>
          </a:solidFill>
          <a:ln/>
        </p:spPr>
      </p:sp>
      <p:sp>
        <p:nvSpPr>
          <p:cNvPr id="45" name="Shape 43"/>
          <p:cNvSpPr/>
          <p:nvPr/>
        </p:nvSpPr>
        <p:spPr>
          <a:xfrm>
            <a:off x="10012680" y="3108960"/>
            <a:ext cx="1481328" cy="685800"/>
          </a:xfrm>
          <a:prstGeom prst="roundedRectangle">
            <a:avLst>
              <a:gd name="adj" fmla="val 6667"/>
            </a:avLst>
          </a:prstGeom>
          <a:solidFill>
            <a:srgbClr val="1D2026"/>
          </a:solidFill>
          <a:ln w="21590">
            <a:solidFill>
              <a:srgbClr val="3ECF8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012680" y="331927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Context</a:t>
            </a:r>
            <a:endParaRPr lang="en-US" sz="1020" dirty="0"/>
          </a:p>
        </p:txBody>
      </p:sp>
      <p:sp>
        <p:nvSpPr>
          <p:cNvPr id="47" name="Text 45"/>
          <p:cNvSpPr/>
          <p:nvPr/>
        </p:nvSpPr>
        <p:spPr>
          <a:xfrm>
            <a:off x="502920" y="4251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02920" y="4617720"/>
            <a:ext cx="1481328" cy="685800"/>
          </a:xfrm>
          <a:prstGeom prst="roundedRectangle">
            <a:avLst>
              <a:gd name="adj" fmla="val 6667"/>
            </a:avLst>
          </a:prstGeom>
          <a:solidFill>
            <a:srgbClr val="1D2026"/>
          </a:solidFill>
          <a:ln w="21590">
            <a:solidFill>
              <a:srgbClr val="7C6C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482803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7C6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Agent</a:t>
            </a:r>
            <a:endParaRPr lang="en-US" sz="1020" dirty="0"/>
          </a:p>
        </p:txBody>
      </p:sp>
      <p:sp>
        <p:nvSpPr>
          <p:cNvPr id="50" name="Shape 48"/>
          <p:cNvSpPr/>
          <p:nvPr/>
        </p:nvSpPr>
        <p:spPr>
          <a:xfrm>
            <a:off x="2039112" y="4864608"/>
            <a:ext cx="274320" cy="182880"/>
          </a:xfrm>
          <a:prstGeom prst="rightArrow">
            <a:avLst/>
          </a:prstGeom>
          <a:solidFill>
            <a:srgbClr val="6B717F"/>
          </a:solidFill>
          <a:ln/>
        </p:spPr>
      </p:sp>
      <p:sp>
        <p:nvSpPr>
          <p:cNvPr id="51" name="Shape 49"/>
          <p:cNvSpPr/>
          <p:nvPr/>
        </p:nvSpPr>
        <p:spPr>
          <a:xfrm>
            <a:off x="2404872" y="4617720"/>
            <a:ext cx="1481328" cy="685800"/>
          </a:xfrm>
          <a:prstGeom prst="roundedRectangle">
            <a:avLst>
              <a:gd name="adj" fmla="val 6667"/>
            </a:avLst>
          </a:prstGeom>
          <a:solidFill>
            <a:srgbClr val="1D2026"/>
          </a:solidFill>
          <a:ln w="21590">
            <a:solidFill>
              <a:srgbClr val="3ECF8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404872" y="482803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20" dirty="0"/>
          </a:p>
        </p:txBody>
      </p:sp>
      <p:sp>
        <p:nvSpPr>
          <p:cNvPr id="53" name="Shape 51"/>
          <p:cNvSpPr/>
          <p:nvPr/>
        </p:nvSpPr>
        <p:spPr>
          <a:xfrm>
            <a:off x="3941064" y="4864608"/>
            <a:ext cx="274320" cy="182880"/>
          </a:xfrm>
          <a:prstGeom prst="rightArrow">
            <a:avLst/>
          </a:prstGeom>
          <a:solidFill>
            <a:srgbClr val="6B717F"/>
          </a:solidFill>
          <a:ln/>
        </p:spPr>
      </p:sp>
      <p:sp>
        <p:nvSpPr>
          <p:cNvPr id="54" name="Shape 52"/>
          <p:cNvSpPr/>
          <p:nvPr/>
        </p:nvSpPr>
        <p:spPr>
          <a:xfrm>
            <a:off x="4306824" y="4617720"/>
            <a:ext cx="1481328" cy="685800"/>
          </a:xfrm>
          <a:prstGeom prst="roundedRectangle">
            <a:avLst>
              <a:gd name="adj" fmla="val 6667"/>
            </a:avLst>
          </a:prstGeom>
          <a:solidFill>
            <a:srgbClr val="1D2026"/>
          </a:solidFill>
          <a:ln w="21590">
            <a:solidFill>
              <a:srgbClr val="3ECF8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06824" y="482803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TaskOutcome</a:t>
            </a:r>
            <a:endParaRPr lang="en-US" sz="1020" dirty="0"/>
          </a:p>
        </p:txBody>
      </p:sp>
      <p:sp>
        <p:nvSpPr>
          <p:cNvPr id="56" name="Shape 54"/>
          <p:cNvSpPr/>
          <p:nvPr/>
        </p:nvSpPr>
        <p:spPr>
          <a:xfrm>
            <a:off x="5843016" y="4864608"/>
            <a:ext cx="274320" cy="182880"/>
          </a:xfrm>
          <a:prstGeom prst="rightArrow">
            <a:avLst/>
          </a:prstGeom>
          <a:solidFill>
            <a:srgbClr val="6B717F"/>
          </a:solidFill>
          <a:ln/>
        </p:spPr>
      </p:sp>
      <p:sp>
        <p:nvSpPr>
          <p:cNvPr id="57" name="Shape 55"/>
          <p:cNvSpPr/>
          <p:nvPr/>
        </p:nvSpPr>
        <p:spPr>
          <a:xfrm>
            <a:off x="6208776" y="4617720"/>
            <a:ext cx="1481328" cy="685800"/>
          </a:xfrm>
          <a:prstGeom prst="roundedRectangle">
            <a:avLst>
              <a:gd name="adj" fmla="val 6667"/>
            </a:avLst>
          </a:prstGeom>
          <a:solidFill>
            <a:srgbClr val="1D2026"/>
          </a:solidFill>
          <a:ln w="21590">
            <a:solidFill>
              <a:srgbClr val="3ECF8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08776" y="482803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Check</a:t>
            </a:r>
            <a:endParaRPr lang="en-US" sz="1020" dirty="0"/>
          </a:p>
        </p:txBody>
      </p:sp>
      <p:sp>
        <p:nvSpPr>
          <p:cNvPr id="59" name="Shape 57"/>
          <p:cNvSpPr/>
          <p:nvPr/>
        </p:nvSpPr>
        <p:spPr>
          <a:xfrm>
            <a:off x="7744968" y="4864608"/>
            <a:ext cx="274320" cy="182880"/>
          </a:xfrm>
          <a:prstGeom prst="rightArrow">
            <a:avLst/>
          </a:prstGeom>
          <a:solidFill>
            <a:srgbClr val="6B717F"/>
          </a:solidFill>
          <a:ln/>
        </p:spPr>
      </p:sp>
      <p:sp>
        <p:nvSpPr>
          <p:cNvPr id="60" name="Shape 58"/>
          <p:cNvSpPr/>
          <p:nvPr/>
        </p:nvSpPr>
        <p:spPr>
          <a:xfrm>
            <a:off x="8110728" y="4617720"/>
            <a:ext cx="1481328" cy="685800"/>
          </a:xfrm>
          <a:prstGeom prst="roundedRectangle">
            <a:avLst>
              <a:gd name="adj" fmla="val 6667"/>
            </a:avLst>
          </a:prstGeom>
          <a:solidFill>
            <a:srgbClr val="1D2026"/>
          </a:solidFill>
          <a:ln w="21590">
            <a:solidFill>
              <a:srgbClr val="7C6C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110728" y="482803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7C6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Agent</a:t>
            </a:r>
            <a:endParaRPr lang="en-US" sz="1020" dirty="0"/>
          </a:p>
        </p:txBody>
      </p:sp>
      <p:sp>
        <p:nvSpPr>
          <p:cNvPr id="62" name="Shape 60"/>
          <p:cNvSpPr/>
          <p:nvPr/>
        </p:nvSpPr>
        <p:spPr>
          <a:xfrm>
            <a:off x="9646920" y="4864608"/>
            <a:ext cx="274320" cy="182880"/>
          </a:xfrm>
          <a:prstGeom prst="rightArrow">
            <a:avLst/>
          </a:prstGeom>
          <a:solidFill>
            <a:srgbClr val="6B717F"/>
          </a:solidFill>
          <a:ln/>
        </p:spPr>
      </p:sp>
      <p:sp>
        <p:nvSpPr>
          <p:cNvPr id="63" name="Shape 61"/>
          <p:cNvSpPr/>
          <p:nvPr/>
        </p:nvSpPr>
        <p:spPr>
          <a:xfrm>
            <a:off x="10012680" y="4617720"/>
            <a:ext cx="1481328" cy="685800"/>
          </a:xfrm>
          <a:prstGeom prst="roundedRectangle">
            <a:avLst>
              <a:gd name="adj" fmla="val 6667"/>
            </a:avLst>
          </a:prstGeom>
          <a:solidFill>
            <a:srgbClr val="1D2026"/>
          </a:solidFill>
          <a:ln w="21590">
            <a:solidFill>
              <a:srgbClr val="E8A33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012680" y="482803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Gate?</a:t>
            </a:r>
            <a:endParaRPr lang="en-US" sz="1020" dirty="0"/>
          </a:p>
        </p:txBody>
      </p:sp>
      <p:sp>
        <p:nvSpPr>
          <p:cNvPr id="65" name="Shape 63"/>
          <p:cNvSpPr/>
          <p:nvPr/>
        </p:nvSpPr>
        <p:spPr>
          <a:xfrm>
            <a:off x="548640" y="5669280"/>
            <a:ext cx="11064240" cy="530352"/>
          </a:xfrm>
          <a:prstGeom prst="roundedRectangle">
            <a:avLst>
              <a:gd name="adj" fmla="val 6897"/>
            </a:avLst>
          </a:prstGeom>
          <a:solidFill>
            <a:srgbClr val="16181D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77240" y="5824728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interpreta e executa. Código determinístico seleciona, verifica, hidrata e valida. Humano aceita fatos canônicos e mudanças de alto impacto.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Context Slice · Descobrir</dc:title>
  <dc:subject>Pipeline determinístico L0→L1→L2→Slice→Pack</dc:subject>
  <dc:creator>ai-dev-harness</dc:creator>
  <cp:lastModifiedBy>ai-dev-harness</cp:lastModifiedBy>
  <cp:revision>1</cp:revision>
  <dcterms:created xsi:type="dcterms:W3CDTF">2026-08-07T12:50:52Z</dcterms:created>
  <dcterms:modified xsi:type="dcterms:W3CDTF">2026-08-07T12:50:52Z</dcterms:modified>
</cp:coreProperties>
</file>